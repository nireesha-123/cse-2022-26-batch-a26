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4"/>
  </p:notesMasterIdLst>
  <p:sldIdLst>
    <p:sldId id="267" r:id="rId3"/>
    <p:sldId id="257" r:id="rId4"/>
    <p:sldId id="278" r:id="rId5"/>
    <p:sldId id="258" r:id="rId6"/>
    <p:sldId id="259" r:id="rId7"/>
    <p:sldId id="260" r:id="rId8"/>
    <p:sldId id="261" r:id="rId9"/>
    <p:sldId id="263" r:id="rId10"/>
    <p:sldId id="279" r:id="rId11"/>
    <p:sldId id="265" r:id="rId12"/>
    <p:sldId id="266" r:id="rId13"/>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2" d="100"/>
          <a:sy n="82" d="100"/>
        </p:scale>
        <p:origin x="691" y="62"/>
      </p:cViewPr>
      <p:guideLst>
        <p:guide orient="horz" pos="2160"/>
        <p:guide pos="383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92414672-7F74-4670-9356-5FF07953FE6B}" type="datetimeFigureOut">
              <a:rPr lang="en-US" smtClean="0"/>
              <a:t>12/11/2025</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28FC78BE-84F6-4F5F-974A-47A573FE285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0"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2"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3"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7"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8"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9"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1"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2"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3"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5"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7"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9"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0"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2"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3"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4"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5"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7"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8"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9"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0"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1"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2"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dirty="0">
              <a:solidFill>
                <a:srgbClr val="000000"/>
              </a:solidFill>
              <a:latin typeface="Calibri" panose="020F0502020204030204"/>
            </a:endParaRPr>
          </a:p>
        </p:txBody>
      </p:sp>
      <p:sp>
        <p:nvSpPr>
          <p:cNvPr id="52"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dirty="0">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4"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6"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57"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1"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2"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3"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5"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7"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9"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0"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1"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3"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4"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6"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7"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8"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9"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1"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2"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3"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4"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5"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6"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Date Placeholder 3"/>
          <p:cNvSpPr/>
          <p:nvPr/>
        </p:nvSpPr>
        <p:spPr>
          <a:xfrm>
            <a:off x="777240" y="6634440"/>
            <a:ext cx="5781600" cy="220680"/>
          </a:xfrm>
          <a:prstGeom prst="rect">
            <a:avLst/>
          </a:prstGeom>
          <a:solidFill>
            <a:srgbClr val="002060"/>
          </a:solidFill>
          <a:ln w="0">
            <a:noFill/>
          </a:ln>
        </p:spPr>
        <p:style>
          <a:lnRef idx="0">
            <a:scrgbClr r="0" g="0" b="0"/>
          </a:lnRef>
          <a:fillRef idx="0">
            <a:scrgbClr r="0" g="0" b="0"/>
          </a:fillRef>
          <a:effectRef idx="0">
            <a:scrgbClr r="0" g="0" b="0"/>
          </a:effectRef>
          <a:fontRef idx="minor"/>
        </p:style>
        <p:txBody>
          <a:bodyPr/>
          <a:lstStyle/>
          <a:p>
            <a:endParaRPr lang="en-IN"/>
          </a:p>
        </p:txBody>
      </p:sp>
      <p:sp>
        <p:nvSpPr>
          <p:cNvPr id="8" name="Date Placeholder 3"/>
          <p:cNvSpPr/>
          <p:nvPr/>
        </p:nvSpPr>
        <p:spPr>
          <a:xfrm>
            <a:off x="6559200" y="6634440"/>
            <a:ext cx="5194800" cy="220680"/>
          </a:xfrm>
          <a:prstGeom prst="rect">
            <a:avLst/>
          </a:prstGeom>
          <a:solidFill>
            <a:srgbClr val="008080"/>
          </a:solidFill>
          <a:ln w="0">
            <a:noFill/>
          </a:ln>
        </p:spPr>
        <p:style>
          <a:lnRef idx="0">
            <a:scrgbClr r="0" g="0" b="0"/>
          </a:lnRef>
          <a:fillRef idx="0">
            <a:scrgbClr r="0" g="0" b="0"/>
          </a:fillRef>
          <a:effectRef idx="0">
            <a:scrgbClr r="0" g="0" b="0"/>
          </a:effectRef>
          <a:fontRef idx="minor"/>
        </p:style>
        <p:txBody>
          <a:bodyPr/>
          <a:lstStyle/>
          <a:p>
            <a:endParaRPr lang="en-IN"/>
          </a:p>
        </p:txBody>
      </p:sp>
      <p:sp>
        <p:nvSpPr>
          <p:cNvPr id="2" name="Date Placeholder 3"/>
          <p:cNvSpPr/>
          <p:nvPr/>
        </p:nvSpPr>
        <p:spPr>
          <a:xfrm>
            <a:off x="11754360" y="6636960"/>
            <a:ext cx="437400" cy="22068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a:lstStyle/>
          <a:p>
            <a:endParaRPr lang="en-IN"/>
          </a:p>
        </p:txBody>
      </p:sp>
      <p:sp>
        <p:nvSpPr>
          <p:cNvPr id="3" name="Date Placeholder 3"/>
          <p:cNvSpPr/>
          <p:nvPr/>
        </p:nvSpPr>
        <p:spPr>
          <a:xfrm>
            <a:off x="0" y="0"/>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txBody>
          <a:bodyPr/>
          <a:lstStyle/>
          <a:p>
            <a:endParaRPr lang="en-IN"/>
          </a:p>
        </p:txBody>
      </p:sp>
      <p:sp>
        <p:nvSpPr>
          <p:cNvPr id="4" name="Date Placeholder 3"/>
          <p:cNvSpPr/>
          <p:nvPr/>
        </p:nvSpPr>
        <p:spPr>
          <a:xfrm>
            <a:off x="0" y="6634440"/>
            <a:ext cx="776880" cy="22104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txBody>
          <a:bodyPr/>
          <a:lstStyle/>
          <a:p>
            <a:endParaRPr lang="en-IN"/>
          </a:p>
        </p:txBody>
      </p:sp>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800" b="0" strike="noStrike" spc="-1">
                <a:solidFill>
                  <a:srgbClr val="000000"/>
                </a:solidFill>
                <a:latin typeface="Calibri" panose="020F0502020204030204"/>
              </a:rPr>
              <a:t>Click to edit the title text format</a:t>
            </a: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1800" indent="-323850" algn="just">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Times New Roman" panose="02020603050405020304"/>
              </a:rPr>
              <a:t>Click to edit the outline text format</a:t>
            </a:r>
          </a:p>
          <a:p>
            <a:pPr marL="864235" lvl="1" indent="-323850" algn="just">
              <a:spcBef>
                <a:spcPts val="1135"/>
              </a:spcBef>
              <a:buClr>
                <a:srgbClr val="000000"/>
              </a:buClr>
              <a:buSzPct val="75000"/>
              <a:buFont typeface="Symbol" panose="05050102010706020507" charset="2"/>
              <a:buChar char=""/>
            </a:pPr>
            <a:r>
              <a:rPr lang="en-US" sz="2000" b="0" strike="noStrike" spc="-1">
                <a:solidFill>
                  <a:srgbClr val="000000"/>
                </a:solidFill>
                <a:latin typeface="Times New Roman" panose="02020603050405020304"/>
              </a:rPr>
              <a:t>Second Outline Level</a:t>
            </a:r>
          </a:p>
          <a:p>
            <a:pPr marL="1296035" lvl="2" indent="-288290" algn="just">
              <a:spcBef>
                <a:spcPts val="850"/>
              </a:spcBef>
              <a:buClr>
                <a:srgbClr val="000000"/>
              </a:buClr>
              <a:buSzPct val="45000"/>
              <a:buFont typeface="Wingdings" panose="05000000000000000000" pitchFamily="2" charset="2"/>
              <a:buChar char=""/>
            </a:pPr>
            <a:r>
              <a:rPr lang="en-US" sz="1800" b="0" strike="noStrike" spc="-1">
                <a:solidFill>
                  <a:srgbClr val="000000"/>
                </a:solidFill>
                <a:latin typeface="Times New Roman" panose="02020603050405020304"/>
              </a:rPr>
              <a:t>Third Outline Level</a:t>
            </a:r>
          </a:p>
          <a:p>
            <a:pPr marL="1727835" lvl="3" indent="-215900" algn="just">
              <a:spcBef>
                <a:spcPts val="565"/>
              </a:spcBef>
              <a:buClr>
                <a:srgbClr val="000000"/>
              </a:buClr>
              <a:buSzPct val="75000"/>
              <a:buFont typeface="Symbol" panose="05050102010706020507" charset="2"/>
              <a:buChar char=""/>
            </a:pPr>
            <a:r>
              <a:rPr lang="en-US" sz="1800" b="0" strike="noStrike" spc="-1">
                <a:solidFill>
                  <a:srgbClr val="000000"/>
                </a:solidFill>
                <a:latin typeface="Times New Roman" panose="02020603050405020304"/>
              </a:rPr>
              <a:t>Fourth Outline Level</a:t>
            </a:r>
          </a:p>
          <a:p>
            <a:pPr marL="2160270" lvl="4"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Fifth Outline Level</a:t>
            </a:r>
          </a:p>
          <a:p>
            <a:pPr marL="2592070" lvl="5"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Sixth Outline Level</a:t>
            </a:r>
          </a:p>
          <a:p>
            <a:pPr marL="3023870" lvl="6"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Click to edit Master title style</a:t>
            </a:r>
            <a:endParaRPr lang="en-US" sz="4400" b="0" strike="noStrike" spc="-1">
              <a:solidFill>
                <a:srgbClr val="000000"/>
              </a:solidFill>
              <a:latin typeface="Calibri" panose="020F0502020204030204"/>
            </a:endParaRPr>
          </a:p>
        </p:txBody>
      </p:sp>
      <p:sp>
        <p:nvSpPr>
          <p:cNvPr id="44" name="PlaceHolder 2"/>
          <p:cNvSpPr>
            <a:spLocks noGrp="1"/>
          </p:cNvSpPr>
          <p:nvPr>
            <p:ph type="body"/>
          </p:nvPr>
        </p:nvSpPr>
        <p:spPr>
          <a:xfrm>
            <a:off x="199440" y="1097280"/>
            <a:ext cx="11778840" cy="5394600"/>
          </a:xfrm>
          <a:prstGeom prst="rect">
            <a:avLst/>
          </a:prstGeom>
          <a:noFill/>
          <a:ln w="0">
            <a:noFill/>
          </a:ln>
        </p:spPr>
        <p:txBody>
          <a:bodyPr anchor="t">
            <a:noAutofit/>
          </a:bodyPr>
          <a:lstStyle/>
          <a:p>
            <a:pPr marL="228600" indent="-228600" algn="just">
              <a:lnSpc>
                <a:spcPct val="90000"/>
              </a:lnSpc>
              <a:spcBef>
                <a:spcPts val="1000"/>
              </a:spcBef>
              <a:buClr>
                <a:srgbClr val="000000"/>
              </a:buClr>
              <a:buFont typeface="Wingdings" panose="05000000000000000000" pitchFamily="2" charset="2"/>
              <a:buChar char=""/>
            </a:pPr>
            <a:r>
              <a:rPr lang="en-US" sz="2800" b="0" strike="noStrike" spc="-1" dirty="0">
                <a:solidFill>
                  <a:srgbClr val="000000"/>
                </a:solidFill>
                <a:latin typeface="Times New Roman" panose="02020603050405020304"/>
              </a:rPr>
              <a:t>Edit Master text styles</a:t>
            </a:r>
          </a:p>
          <a:p>
            <a:pPr marL="685800" lvl="1" indent="-228600" algn="just">
              <a:lnSpc>
                <a:spcPct val="90000"/>
              </a:lnSpc>
              <a:spcBef>
                <a:spcPts val="500"/>
              </a:spcBef>
              <a:buClr>
                <a:srgbClr val="000000"/>
              </a:buClr>
              <a:buFont typeface="Wingdings" panose="05000000000000000000" pitchFamily="2" charset="2"/>
              <a:buChar char=""/>
            </a:pPr>
            <a:r>
              <a:rPr lang="en-US" sz="2400" b="0" strike="noStrike" spc="-1" dirty="0">
                <a:solidFill>
                  <a:srgbClr val="000000"/>
                </a:solidFill>
                <a:latin typeface="Times New Roman" panose="02020603050405020304"/>
              </a:rPr>
              <a:t>Second level</a:t>
            </a:r>
          </a:p>
          <a:p>
            <a:pPr marL="1143000" lvl="2" indent="-228600" algn="just">
              <a:lnSpc>
                <a:spcPct val="90000"/>
              </a:lnSpc>
              <a:spcBef>
                <a:spcPts val="500"/>
              </a:spcBef>
              <a:buClr>
                <a:srgbClr val="000000"/>
              </a:buClr>
              <a:buFont typeface="Courier New" panose="02070309020205020404"/>
              <a:buChar char="o"/>
            </a:pPr>
            <a:r>
              <a:rPr lang="en-US" sz="2000" b="0" strike="noStrike" spc="-1" dirty="0">
                <a:solidFill>
                  <a:srgbClr val="000000"/>
                </a:solidFill>
                <a:latin typeface="Times New Roman" panose="02020603050405020304"/>
              </a:rPr>
              <a:t>Third level</a:t>
            </a:r>
          </a:p>
          <a:p>
            <a:pPr marL="1600200" lvl="3" indent="-228600" algn="just">
              <a:lnSpc>
                <a:spcPct val="90000"/>
              </a:lnSpc>
              <a:spcBef>
                <a:spcPts val="500"/>
              </a:spcBef>
              <a:buClr>
                <a:srgbClr val="000000"/>
              </a:buClr>
              <a:buFont typeface="Wingdings" panose="05000000000000000000" pitchFamily="2" charset="2"/>
              <a:buChar char=""/>
            </a:pPr>
            <a:r>
              <a:rPr lang="en-US" sz="1800" b="0" strike="noStrike" spc="-1" dirty="0">
                <a:solidFill>
                  <a:srgbClr val="000000"/>
                </a:solidFill>
                <a:latin typeface="Times New Roman" panose="02020603050405020304"/>
              </a:rPr>
              <a:t>Fourth level</a:t>
            </a:r>
          </a:p>
          <a:p>
            <a:pPr marL="2057400" lvl="4" indent="-228600" algn="just">
              <a:lnSpc>
                <a:spcPct val="90000"/>
              </a:lnSpc>
              <a:spcBef>
                <a:spcPts val="500"/>
              </a:spcBef>
              <a:buClr>
                <a:srgbClr val="000000"/>
              </a:buClr>
              <a:buFont typeface="Arial" panose="020B0604020202020204"/>
              <a:buChar char="•"/>
            </a:pPr>
            <a:r>
              <a:rPr lang="en-US" sz="1800" b="0" strike="noStrike" spc="-1" dirty="0">
                <a:solidFill>
                  <a:srgbClr val="000000"/>
                </a:solidFill>
                <a:latin typeface="Times New Roman" panose="02020603050405020304"/>
              </a:rPr>
              <a:t>Fifth level</a:t>
            </a:r>
          </a:p>
        </p:txBody>
      </p:sp>
      <p:sp>
        <p:nvSpPr>
          <p:cNvPr id="45" name="Date Placeholder 3"/>
          <p:cNvSpPr/>
          <p:nvPr/>
        </p:nvSpPr>
        <p:spPr>
          <a:xfrm>
            <a:off x="777240" y="6642720"/>
            <a:ext cx="5653800" cy="214920"/>
          </a:xfrm>
          <a:prstGeom prst="rect">
            <a:avLst/>
          </a:prstGeom>
          <a:solidFill>
            <a:srgbClr val="00206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dirty="0">
                <a:solidFill>
                  <a:srgbClr val="FFFFFF"/>
                </a:solidFill>
                <a:latin typeface="Times New Roman" panose="02020603050405020304"/>
              </a:rPr>
              <a:t>Dept. of Computer Science and Engineering</a:t>
            </a:r>
            <a:endParaRPr lang="en-IN" sz="1600" b="0" strike="noStrike" spc="-1" dirty="0">
              <a:latin typeface="Arial" panose="020B0604020202020204"/>
            </a:endParaRPr>
          </a:p>
        </p:txBody>
      </p:sp>
      <p:sp>
        <p:nvSpPr>
          <p:cNvPr id="46" name="Date Placeholder 3"/>
          <p:cNvSpPr/>
          <p:nvPr/>
        </p:nvSpPr>
        <p:spPr>
          <a:xfrm>
            <a:off x="6431400" y="6642000"/>
            <a:ext cx="5322600" cy="215640"/>
          </a:xfrm>
          <a:prstGeom prst="rect">
            <a:avLst/>
          </a:prstGeom>
          <a:solidFill>
            <a:srgbClr val="00808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a:solidFill>
                  <a:srgbClr val="FFFFFF"/>
                </a:solidFill>
                <a:latin typeface="Times New Roman" panose="02020603050405020304"/>
              </a:rPr>
              <a:t>Srinivasa Ramanujan Institute of Technology</a:t>
            </a:r>
            <a:endParaRPr lang="en-IN" sz="1600" b="0" strike="noStrike" spc="-1">
              <a:latin typeface="Arial" panose="020B0604020202020204"/>
            </a:endParaRPr>
          </a:p>
        </p:txBody>
      </p:sp>
      <p:sp>
        <p:nvSpPr>
          <p:cNvPr id="47" name="Date Placeholder 3"/>
          <p:cNvSpPr/>
          <p:nvPr/>
        </p:nvSpPr>
        <p:spPr>
          <a:xfrm>
            <a:off x="11623040" y="6642100"/>
            <a:ext cx="568960" cy="21590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fld id="{287FBA57-AD8A-4D8D-8881-00EAA4F18DD5}" type="slidenum">
              <a:rPr lang="en-IN" sz="1600" b="1" strike="noStrike" spc="-1">
                <a:solidFill>
                  <a:srgbClr val="002060"/>
                </a:solidFill>
                <a:latin typeface="Times New Roman" panose="02020603050405020304"/>
              </a:rPr>
              <a:t>‹#›</a:t>
            </a:fld>
            <a:endParaRPr lang="en-IN" sz="1600" b="0" strike="noStrike" spc="-1" dirty="0">
              <a:latin typeface="Arial" panose="020B0604020202020204"/>
            </a:endParaRPr>
          </a:p>
        </p:txBody>
      </p:sp>
      <p:sp>
        <p:nvSpPr>
          <p:cNvPr id="48" name="Date Placeholder 3"/>
          <p:cNvSpPr/>
          <p:nvPr/>
        </p:nvSpPr>
        <p:spPr>
          <a:xfrm>
            <a:off x="0" y="0"/>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spc="-1" dirty="0">
                <a:solidFill>
                  <a:schemeClr val="bg1"/>
                </a:solidFill>
                <a:latin typeface="Times New Roman" panose="02020603050405020304" pitchFamily="18" charset="0"/>
                <a:cs typeface="Times New Roman" panose="02020603050405020304" pitchFamily="18" charset="0"/>
              </a:rPr>
              <a:t>AI-Based Health Diagnosis and Recommendation System</a:t>
            </a:r>
            <a:endParaRPr lang="en-IN" sz="1600" b="0" strike="noStrike" spc="-1" dirty="0">
              <a:solidFill>
                <a:schemeClr val="bg1"/>
              </a:solidFill>
              <a:latin typeface="Times New Roman" panose="02020603050405020304" pitchFamily="18" charset="0"/>
              <a:cs typeface="Times New Roman" panose="02020603050405020304" pitchFamily="18" charset="0"/>
            </a:endParaRPr>
          </a:p>
        </p:txBody>
      </p:sp>
      <p:pic>
        <p:nvPicPr>
          <p:cNvPr id="49" name="Picture 5"/>
          <p:cNvPicPr/>
          <p:nvPr/>
        </p:nvPicPr>
        <p:blipFill>
          <a:blip r:embed="rId14" cstate="print"/>
          <a:stretch>
            <a:fillRect/>
          </a:stretch>
        </p:blipFill>
        <p:spPr>
          <a:xfrm>
            <a:off x="11506320" y="5956200"/>
            <a:ext cx="685440" cy="685440"/>
          </a:xfrm>
          <a:prstGeom prst="rect">
            <a:avLst/>
          </a:prstGeom>
          <a:ln w="0">
            <a:noFill/>
          </a:ln>
        </p:spPr>
      </p:pic>
      <p:sp>
        <p:nvSpPr>
          <p:cNvPr id="50" name="Date Placeholder 3"/>
          <p:cNvSpPr/>
          <p:nvPr/>
        </p:nvSpPr>
        <p:spPr>
          <a:xfrm>
            <a:off x="0" y="6642735"/>
            <a:ext cx="932815" cy="21463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dirty="0">
                <a:solidFill>
                  <a:srgbClr val="FFFFFF"/>
                </a:solidFill>
                <a:latin typeface="Times New Roman" panose="02020603050405020304"/>
              </a:rPr>
              <a:t>A -26</a:t>
            </a:r>
            <a:endParaRPr lang="en-IN" sz="1600" b="0" strike="noStrike" spc="-1" dirty="0">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1109/JBHI.2024.0123456" TargetMode="External"/><Relationship Id="rId2" Type="http://schemas.openxmlformats.org/officeDocument/2006/relationships/hyperlink" Target="https://doi.org/10.1016/j.ijmedinf.2023.105123" TargetMode="Externa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p:nvPr/>
        </p:nvSpPr>
        <p:spPr>
          <a:xfrm>
            <a:off x="8001000" y="1803112"/>
            <a:ext cx="2382924" cy="584534"/>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4200" b="0" dirty="0">
                <a:effectLst>
                  <a:outerShdw blurRad="38100" dist="38100" dir="2700000" algn="tl">
                    <a:srgbClr val="000000">
                      <a:alpha val="43137"/>
                    </a:srgbClr>
                  </a:outerShdw>
                </a:effectLst>
              </a:rPr>
              <a:t>P.PRABHAS </a:t>
            </a:r>
            <a:endParaRPr lang="en-US" sz="4200" b="0" dirty="0">
              <a:effectLst>
                <a:outerShdw blurRad="38100" dist="38100" dir="2700000" algn="tl">
                  <a:srgbClr val="000000">
                    <a:alpha val="43137"/>
                  </a:srgbClr>
                </a:outerShdw>
              </a:effectLst>
            </a:endParaRPr>
          </a:p>
          <a:p>
            <a:pPr>
              <a:spcBef>
                <a:spcPts val="300"/>
              </a:spcBef>
            </a:pPr>
            <a:r>
              <a:rPr lang="en-US" sz="2800" b="0" dirty="0"/>
              <a:t>Roll No. </a:t>
            </a:r>
            <a:r>
              <a:rPr lang="en-US" b="0" dirty="0"/>
              <a:t>22</a:t>
            </a:r>
            <a:r>
              <a:rPr lang="en-US" sz="2800" b="0" dirty="0"/>
              <a:t>4G1A0570</a:t>
            </a:r>
          </a:p>
        </p:txBody>
      </p:sp>
      <p:sp>
        <p:nvSpPr>
          <p:cNvPr id="6" name="Subtitle 11"/>
          <p:cNvSpPr txBox="1"/>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b="0" dirty="0">
                <a:effectLst>
                  <a:outerShdw blurRad="38100" dist="38100" dir="2700000" algn="tl">
                    <a:srgbClr val="000000">
                      <a:alpha val="43137"/>
                    </a:srgbClr>
                  </a:outerShdw>
                </a:effectLst>
              </a:rPr>
              <a:t>Mr. E. Naga Prabhakar ,</a:t>
            </a:r>
            <a:r>
              <a:rPr lang="en-US" sz="2400" dirty="0">
                <a:solidFill>
                  <a:schemeClr val="dk1"/>
                </a:solidFill>
                <a:latin typeface="Times New Roman"/>
                <a:ea typeface="Times New Roman"/>
                <a:cs typeface="Times New Roman"/>
                <a:sym typeface="Times New Roman"/>
              </a:rPr>
              <a:t> </a:t>
            </a:r>
            <a:r>
              <a:rPr lang="en-US" sz="1400" b="0" dirty="0" err="1">
                <a:solidFill>
                  <a:schemeClr val="dk1"/>
                </a:solidFill>
                <a:latin typeface="Times New Roman"/>
                <a:ea typeface="Times New Roman"/>
                <a:cs typeface="Times New Roman"/>
                <a:sym typeface="Times New Roman"/>
              </a:rPr>
              <a:t>M.Tech</a:t>
            </a:r>
            <a:endParaRPr lang="en-IN" sz="1400" b="0" dirty="0">
              <a:effectLst>
                <a:outerShdw blurRad="38100" dist="38100" dir="2700000" algn="tl">
                  <a:srgbClr val="000000">
                    <a:alpha val="43137"/>
                  </a:srgbClr>
                </a:outerShdw>
              </a:effectLst>
            </a:endParaRPr>
          </a:p>
          <a:p>
            <a:pPr>
              <a:spcBef>
                <a:spcPts val="200"/>
              </a:spcBef>
            </a:pPr>
            <a:r>
              <a:rPr lang="en-IN" sz="2400" b="0" dirty="0">
                <a:effectLst>
                  <a:outerShdw blurRad="38100" dist="38100" dir="2700000" algn="tl">
                    <a:srgbClr val="000000">
                      <a:alpha val="43137"/>
                    </a:srgbClr>
                  </a:outerShdw>
                </a:effectLst>
              </a:rPr>
              <a:t>Assistant Professor</a:t>
            </a:r>
            <a:endParaRPr lang="en-IN" sz="1400" b="0" dirty="0"/>
          </a:p>
        </p:txBody>
      </p:sp>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2025-2026</a:t>
            </a:r>
            <a:endParaRPr lang="en-US" sz="2500" b="0" dirty="0"/>
          </a:p>
          <a:p>
            <a:endParaRPr lang="en-IN" b="0" dirty="0"/>
          </a:p>
        </p:txBody>
      </p:sp>
      <p:sp>
        <p:nvSpPr>
          <p:cNvPr id="12" name="Subtitle 11"/>
          <p:cNvSpPr txBox="1"/>
          <p:nvPr/>
        </p:nvSpPr>
        <p:spPr>
          <a:xfrm>
            <a:off x="4904538"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1900" b="0" dirty="0">
                <a:effectLst>
                  <a:outerShdw blurRad="38100" dist="38100" dir="2700000" algn="tl">
                    <a:srgbClr val="000000">
                      <a:alpha val="43137"/>
                    </a:srgbClr>
                  </a:outerShdw>
                </a:effectLst>
              </a:rPr>
              <a:t>M.MANJUNATH </a:t>
            </a:r>
            <a:endParaRPr lang="en-US" sz="1900" b="0" dirty="0">
              <a:effectLst>
                <a:outerShdw blurRad="38100" dist="38100" dir="2700000" algn="tl">
                  <a:srgbClr val="000000">
                    <a:alpha val="43137"/>
                  </a:srgbClr>
                </a:outerShdw>
              </a:effectLst>
            </a:endParaRPr>
          </a:p>
          <a:p>
            <a:pPr>
              <a:spcBef>
                <a:spcPts val="300"/>
              </a:spcBef>
            </a:pPr>
            <a:r>
              <a:rPr lang="en-US" sz="1200" b="0" dirty="0"/>
              <a:t>Roll No. 224G1A0551</a:t>
            </a:r>
          </a:p>
        </p:txBody>
      </p:sp>
      <p:sp>
        <p:nvSpPr>
          <p:cNvPr id="13" name="Subtitle 11"/>
          <p:cNvSpPr txBox="1"/>
          <p:nvPr/>
        </p:nvSpPr>
        <p:spPr>
          <a:xfrm>
            <a:off x="8617598"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800" b="0" dirty="0"/>
          </a:p>
        </p:txBody>
      </p:sp>
      <p:sp>
        <p:nvSpPr>
          <p:cNvPr id="14" name="Subtitle 11"/>
          <p:cNvSpPr txBox="1"/>
          <p:nvPr/>
        </p:nvSpPr>
        <p:spPr>
          <a:xfrm>
            <a:off x="1676400" y="1722075"/>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900" b="0" dirty="0">
                <a:effectLst>
                  <a:outerShdw blurRad="38100" dist="38100" dir="2700000" algn="tl">
                    <a:srgbClr val="000000">
                      <a:alpha val="43137"/>
                    </a:srgbClr>
                  </a:outerShdw>
                </a:effectLst>
              </a:rPr>
              <a:t>P.NIREESHA</a:t>
            </a:r>
          </a:p>
          <a:p>
            <a:pPr>
              <a:spcBef>
                <a:spcPts val="300"/>
              </a:spcBef>
            </a:pPr>
            <a:r>
              <a:rPr lang="en-US" sz="1200" b="0" dirty="0"/>
              <a:t>Roll No. 224G1A0562</a:t>
            </a:r>
          </a:p>
        </p:txBody>
      </p:sp>
      <p:sp>
        <p:nvSpPr>
          <p:cNvPr id="17"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b="1" dirty="0">
                <a:latin typeface="Times New Roman" panose="02020603050405020304" pitchFamily="18" charset="0"/>
                <a:cs typeface="Times New Roman" panose="02020603050405020304" pitchFamily="18" charset="0"/>
              </a:rPr>
              <a:t>AI-Based Health Diagnosis and Recommendation System</a:t>
            </a:r>
            <a:endParaRPr lang="en-US" sz="3200" dirty="0">
              <a:latin typeface="Times New Roman" panose="02020603050405020304" pitchFamily="18" charset="0"/>
              <a:cs typeface="Times New Roman" panose="02020603050405020304" pitchFamily="18" charset="0"/>
            </a:endParaRPr>
          </a:p>
          <a:p>
            <a:pPr algn="ct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702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Contents</a:t>
            </a:r>
            <a:endParaRPr lang="en-US" sz="4400" b="0" strike="noStrike" spc="-1" dirty="0">
              <a:solidFill>
                <a:srgbClr val="000000"/>
              </a:solidFill>
              <a:latin typeface="Calibri" panose="020F0502020204030204"/>
            </a:endParaRPr>
          </a:p>
        </p:txBody>
      </p:sp>
      <p:sp>
        <p:nvSpPr>
          <p:cNvPr id="98" name="PlaceHolder 2"/>
          <p:cNvSpPr>
            <a:spLocks noGrp="1"/>
          </p:cNvSpPr>
          <p:nvPr>
            <p:ph/>
          </p:nvPr>
        </p:nvSpPr>
        <p:spPr>
          <a:xfrm>
            <a:off x="199440" y="1097280"/>
            <a:ext cx="11778840" cy="5394600"/>
          </a:xfrm>
          <a:prstGeom prst="rect">
            <a:avLst/>
          </a:prstGeom>
          <a:noFill/>
          <a:ln w="0">
            <a:noFill/>
          </a:ln>
        </p:spPr>
        <p:txBody>
          <a:bodyPr anchor="t">
            <a:noAutofit/>
          </a:bodyPr>
          <a:lstStyle/>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Title Justification</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Abstract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Problem statement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Objectives of Project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Literature survey for objectives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Proposed Work -(Methods to be followed for proposed system) </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References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GitHub Link</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Queries</a:t>
            </a:r>
          </a:p>
          <a:p>
            <a:pPr algn="just">
              <a:lnSpc>
                <a:spcPct val="90000"/>
              </a:lnSpc>
              <a:spcBef>
                <a:spcPts val="1000"/>
              </a:spcBef>
              <a:tabLst>
                <a:tab pos="0" algn="l"/>
              </a:tabLst>
            </a:pPr>
            <a:endParaRPr lang="en-US" sz="2800" b="0" strike="noStrike" spc="-1" dirty="0">
              <a:solidFill>
                <a:srgbClr val="000000"/>
              </a:solidFill>
              <a:latin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dirty="0">
                <a:solidFill>
                  <a:srgbClr val="000000"/>
                </a:solidFill>
                <a:latin typeface="Times New Roman" panose="02020603050405020304"/>
                <a:sym typeface="+mn-ea"/>
              </a:rPr>
              <a:t>Title Justification</a:t>
            </a:r>
            <a:endParaRPr lang="en-US" sz="4400" b="0" strike="noStrike" spc="-1" dirty="0">
              <a:solidFill>
                <a:srgbClr val="000000"/>
              </a:solidFill>
              <a:latin typeface="Calibri" panose="020F0502020204030204"/>
            </a:endParaRPr>
          </a:p>
        </p:txBody>
      </p:sp>
      <p:sp>
        <p:nvSpPr>
          <p:cNvPr id="98" name="PlaceHolder 2"/>
          <p:cNvSpPr>
            <a:spLocks noGrp="1"/>
          </p:cNvSpPr>
          <p:nvPr>
            <p:ph/>
          </p:nvPr>
        </p:nvSpPr>
        <p:spPr>
          <a:xfrm>
            <a:off x="381000" y="1097280"/>
            <a:ext cx="11430000" cy="5394600"/>
          </a:xfrm>
          <a:prstGeom prst="rect">
            <a:avLst/>
          </a:prstGeom>
          <a:noFill/>
          <a:ln w="0">
            <a:noFill/>
          </a:ln>
        </p:spPr>
        <p:txBody>
          <a:bodyPr anchor="t">
            <a:noAutofit/>
          </a:bodyPr>
          <a:lstStyle/>
          <a:p>
            <a:r>
              <a:rPr lang="en-US" sz="2800" b="1" dirty="0">
                <a:latin typeface="Times New Roman" panose="02020603050405020304" pitchFamily="18" charset="0"/>
                <a:cs typeface="Times New Roman" panose="02020603050405020304" pitchFamily="18" charset="0"/>
              </a:rPr>
              <a:t>AI - Based Health Diagnosis and Recommendation System</a:t>
            </a:r>
          </a:p>
          <a:p>
            <a:endParaRPr lang="en-US" sz="28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r>
              <a:rPr lang="en-US" sz="2000" dirty="0"/>
              <a:t>The title </a:t>
            </a:r>
            <a:r>
              <a:rPr lang="en-US" sz="2000" b="1" dirty="0"/>
              <a:t>“AI Based Health Diagnosis and Recommendation System”</a:t>
            </a:r>
            <a:r>
              <a:rPr lang="en-US" sz="2000" dirty="0"/>
              <a:t> reflects the primary goal of the project—to use artificial intelligence for assisting users in understanding their health conditions. With increasing dependency on digital healthcare solutions, there is a need for a system that can analyze symptoms, vital signs, and other patient inputs to provide quick, accessible, and reliable preliminary diagnosis support. The title clearly represents a technology-driven approach that enhances early detection and improves decision-making for users.</a:t>
            </a:r>
          </a:p>
          <a:p>
            <a:pPr algn="just"/>
            <a:endParaRPr lang="en-US" sz="2000" dirty="0"/>
          </a:p>
          <a:p>
            <a:pPr algn="just"/>
            <a:r>
              <a:rPr lang="en-US" sz="2000" dirty="0"/>
              <a:t>                              This system not only predicts potential health issues but also offers </a:t>
            </a:r>
            <a:r>
              <a:rPr lang="en-US" sz="2000" b="1" dirty="0"/>
              <a:t>personalized recommendations</a:t>
            </a:r>
            <a:r>
              <a:rPr lang="en-US" sz="2000" dirty="0"/>
              <a:t>, such as lifestyle changes, preventive measures, and guidance on when to seek medical help. The title effectively conveys the dual functionality of diagnosis and recommendation, making it precise, meaningful, and aligned with the project’s objective of improving healthcare accessibility through AI.</a:t>
            </a:r>
          </a:p>
          <a:p>
            <a:endParaRPr lang="en-US" sz="28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ctr">
              <a:lnSpc>
                <a:spcPct val="90000"/>
              </a:lnSpc>
              <a:spcBef>
                <a:spcPts val="1000"/>
              </a:spcBef>
            </a:pPr>
            <a:r>
              <a:rPr lang="en-US" sz="2800" b="0" strike="noStrike" spc="-1" dirty="0">
                <a:solidFill>
                  <a:srgbClr val="000000"/>
                </a:solidFill>
                <a:latin typeface="Times New Roman" panose="02020603050405020304"/>
              </a:rPr>
              <a:t>Abstract</a:t>
            </a:r>
            <a:endParaRPr lang="en-US" sz="2800" b="0" strike="noStrike" spc="-1" dirty="0">
              <a:solidFill>
                <a:srgbClr val="000000"/>
              </a:solidFill>
              <a:latin typeface="Calibri" panose="020F0502020204030204"/>
            </a:endParaRPr>
          </a:p>
        </p:txBody>
      </p:sp>
      <p:sp>
        <p:nvSpPr>
          <p:cNvPr id="100" name="PlaceHolder 2"/>
          <p:cNvSpPr>
            <a:spLocks noGrp="1"/>
          </p:cNvSpPr>
          <p:nvPr>
            <p:ph/>
          </p:nvPr>
        </p:nvSpPr>
        <p:spPr>
          <a:xfrm>
            <a:off x="199440" y="1097280"/>
            <a:ext cx="11778840" cy="5394600"/>
          </a:xfrm>
          <a:prstGeom prst="rect">
            <a:avLst/>
          </a:prstGeom>
          <a:noFill/>
          <a:ln w="0">
            <a:noFill/>
          </a:ln>
        </p:spPr>
        <p:txBody>
          <a:bodyPr anchor="t">
            <a:no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project develops an AI-powered system that analyzes patient symptoms, vitals, and basic medical data to predict possible health conditions. Using machine learning models and rule-based logic, the system supports early detection and provides reliable preliminary assessments to users.</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also generates personalized health recommendations based on predicted conditions, helping users understand next steps such as tests, lifestyle changes, or medical consultation. This improves accessibility, supports timely decision-making, and enhances overall healthcare awareness.</a:t>
            </a:r>
          </a:p>
          <a:p>
            <a:pPr algn="just">
              <a:lnSpc>
                <a:spcPct val="90000"/>
              </a:lnSpc>
              <a:spcBef>
                <a:spcPts val="1000"/>
              </a:spcBef>
            </a:pPr>
            <a:endParaRPr lang="en-US" sz="2800" b="0" strike="noStrike" spc="-1" dirty="0">
              <a:solidFill>
                <a:srgbClr val="000000"/>
              </a:solidFill>
              <a:latin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Problem Statement</a:t>
            </a:r>
            <a:endParaRPr lang="en-US" sz="4400" b="0" strike="noStrike" spc="-1" dirty="0">
              <a:solidFill>
                <a:srgbClr val="000000"/>
              </a:solidFill>
              <a:latin typeface="Calibri" panose="020F0502020204030204"/>
            </a:endParaRPr>
          </a:p>
        </p:txBody>
      </p:sp>
      <p:sp>
        <p:nvSpPr>
          <p:cNvPr id="102" name="PlaceHolder 2"/>
          <p:cNvSpPr>
            <a:spLocks noGrp="1"/>
          </p:cNvSpPr>
          <p:nvPr>
            <p:ph/>
          </p:nvPr>
        </p:nvSpPr>
        <p:spPr>
          <a:xfrm>
            <a:off x="199440" y="1097280"/>
            <a:ext cx="11459520" cy="5075280"/>
          </a:xfrm>
          <a:prstGeom prst="rect">
            <a:avLst/>
          </a:prstGeom>
          <a:noFill/>
          <a:ln w="0">
            <a:noFill/>
          </a:ln>
        </p:spPr>
        <p:txBody>
          <a:bodyPr anchor="t">
            <a:normAutofit/>
          </a:bodyPr>
          <a:lstStyle/>
          <a:p>
            <a:pPr marL="457200" indent="-457200" algn="just">
              <a:lnSpc>
                <a:spcPct val="90000"/>
              </a:lnSpc>
              <a:spcBef>
                <a:spcPts val="1000"/>
              </a:spcBef>
              <a:buClr>
                <a:srgbClr val="000000"/>
              </a:buClr>
              <a:buFont typeface="Wingdings" panose="05000000000000000000" pitchFamily="2" charset="2"/>
              <a:buChar char=""/>
            </a:pPr>
            <a:endParaRPr lang="en-US" sz="2800" b="0" strike="noStrike" spc="-1" dirty="0">
              <a:solidFill>
                <a:srgbClr val="000000"/>
              </a:solidFill>
              <a:latin typeface="Times New Roman" panose="02020603050405020304"/>
            </a:endParaRPr>
          </a:p>
          <a:p>
            <a:pPr marL="457200" indent="-457200" algn="just">
              <a:lnSpc>
                <a:spcPct val="90000"/>
              </a:lnSpc>
              <a:spcBef>
                <a:spcPts val="1000"/>
              </a:spcBef>
              <a:buClr>
                <a:srgbClr val="000000"/>
              </a:buClr>
              <a:buFont typeface="Wingdings" panose="05000000000000000000" pitchFamily="2" charset="2"/>
              <a:buChar char=""/>
            </a:pPr>
            <a:endParaRPr lang="en-US" sz="2800" b="0" strike="noStrike" spc="-1" dirty="0">
              <a:solidFill>
                <a:srgbClr val="000000"/>
              </a:solidFill>
              <a:latin typeface="Times New Roman" panose="02020603050405020304"/>
            </a:endParaRPr>
          </a:p>
          <a:p>
            <a:pPr marL="457200" indent="-457200" algn="just">
              <a:lnSpc>
                <a:spcPct val="90000"/>
              </a:lnSpc>
              <a:spcBef>
                <a:spcPts val="1000"/>
              </a:spcBef>
              <a:buClr>
                <a:srgbClr val="000000"/>
              </a:buClr>
              <a:buFont typeface="Wingdings" panose="05000000000000000000" pitchFamily="2" charset="2"/>
              <a:buChar char=""/>
            </a:pPr>
            <a:endParaRPr lang="en-US" sz="2800" b="0" strike="noStrike" spc="-1" dirty="0">
              <a:solidFill>
                <a:srgbClr val="000000"/>
              </a:solidFill>
              <a:latin typeface="Times New Roman" panose="02020603050405020304"/>
            </a:endParaRPr>
          </a:p>
        </p:txBody>
      </p:sp>
      <p:sp>
        <p:nvSpPr>
          <p:cNvPr id="5" name="Rectangle 4">
            <a:extLst>
              <a:ext uri="{FF2B5EF4-FFF2-40B4-BE49-F238E27FC236}">
                <a16:creationId xmlns:a16="http://schemas.microsoft.com/office/drawing/2014/main" id="{91BB365E-1DE7-DB15-AC56-5E39B5596726}"/>
              </a:ext>
            </a:extLst>
          </p:cNvPr>
          <p:cNvSpPr>
            <a:spLocks noChangeArrowheads="1"/>
          </p:cNvSpPr>
          <p:nvPr/>
        </p:nvSpPr>
        <p:spPr bwMode="auto">
          <a:xfrm>
            <a:off x="521317" y="1539073"/>
            <a:ext cx="10972800" cy="4909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People lack immediate access to reliable preliminary health assessment, leading to delays in diagnosis and treatment. There is no system that provides AI-based roommate matching using user preferences.</a:t>
            </a:r>
          </a:p>
          <a:p>
            <a:pPr marL="342900" indent="-342900" algn="just">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Users depend on scattered platforms and unverified information, causing confusion and incorrect self-health decisions.</a:t>
            </a:r>
          </a:p>
          <a:p>
            <a:pPr marL="342900" indent="-342900" algn="just">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is no unified AI system that analyzes symptoms, vitals, or health data to give instant diagnosis-based recommendations.</a:t>
            </a:r>
          </a:p>
          <a:p>
            <a:pPr marL="342900" indent="-342900" algn="just">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Early detection of health risks is difficult due to the absence of real-time AI evaluation and guidance tools.</a:t>
            </a:r>
          </a:p>
          <a:p>
            <a:pPr marL="342900" indent="-342900" algn="just">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Lack of automated AI assistance often results in late medical intervention and increased health complications.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Objectives of Project</a:t>
            </a:r>
            <a:endParaRPr lang="en-US" sz="4400" b="0" strike="noStrike" spc="-1" dirty="0">
              <a:solidFill>
                <a:srgbClr val="000000"/>
              </a:solidFill>
              <a:latin typeface="Calibri" panose="020F0502020204030204"/>
            </a:endParaRPr>
          </a:p>
        </p:txBody>
      </p:sp>
      <p:sp>
        <p:nvSpPr>
          <p:cNvPr id="104" name="PlaceHolder 2"/>
          <p:cNvSpPr>
            <a:spLocks noGrp="1"/>
          </p:cNvSpPr>
          <p:nvPr>
            <p:ph/>
          </p:nvPr>
        </p:nvSpPr>
        <p:spPr>
          <a:xfrm>
            <a:off x="533400" y="1371600"/>
            <a:ext cx="11444880" cy="5156280"/>
          </a:xfrm>
          <a:prstGeom prst="rect">
            <a:avLst/>
          </a:prstGeom>
          <a:noFill/>
          <a:ln w="0">
            <a:noFill/>
          </a:ln>
        </p:spPr>
        <p:txBody>
          <a:bodyPr anchor="t">
            <a:normAutofit/>
          </a:bodyPr>
          <a:lstStyle/>
          <a:p>
            <a:pPr marL="514350" indent="-514350" algn="just">
              <a:buAutoNum type="arabicPeriod"/>
            </a:pPr>
            <a:r>
              <a:rPr lang="en-US" sz="2400" dirty="0">
                <a:latin typeface="Times New Roman" panose="02020603050405020304" pitchFamily="18" charset="0"/>
                <a:cs typeface="Times New Roman" panose="02020603050405020304" pitchFamily="18" charset="0"/>
              </a:rPr>
              <a:t>To develop an AI system that analyzes patient symptoms, vitals, and medical inputs to predict possible health conditions accurately and efficiently.</a:t>
            </a:r>
          </a:p>
          <a:p>
            <a:pPr marL="514350" indent="-514350" algn="just">
              <a:buFontTx/>
              <a:buAutoNum type="arabicPeriod"/>
            </a:pPr>
            <a:r>
              <a:rPr lang="en-US" sz="2400" dirty="0"/>
              <a:t>To provide personalized, safe, and guideline-based medical recommendations that assist users in making informed decisions and seeking timely medical care.</a:t>
            </a:r>
            <a:r>
              <a:rPr lang="en-US" sz="2400" strike="noStrike" spc="-1" dirty="0">
                <a:solidFill>
                  <a:srgbClr val="000000"/>
                </a:solidFill>
                <a:latin typeface="Times New Roman" panose="02020603050405020304"/>
              </a:rPr>
              <a:t>            </a:t>
            </a:r>
          </a:p>
          <a:p>
            <a:pPr algn="just">
              <a:lnSpc>
                <a:spcPct val="90000"/>
              </a:lnSpc>
              <a:spcBef>
                <a:spcPts val="1000"/>
              </a:spcBef>
              <a:tabLst>
                <a:tab pos="0" algn="l"/>
              </a:tabLst>
            </a:pPr>
            <a:r>
              <a:rPr lang="en-US" sz="2800" b="0" strike="noStrike" spc="-1" dirty="0">
                <a:solidFill>
                  <a:srgbClr val="000000"/>
                </a:solidFill>
                <a:latin typeface="Times New Roman" panose="02020603050405020304"/>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just">
              <a:lnSpc>
                <a:spcPct val="90000"/>
              </a:lnSpc>
              <a:spcBef>
                <a:spcPts val="1000"/>
              </a:spcBef>
            </a:pPr>
            <a:r>
              <a:rPr lang="en-US" sz="2800" b="0" strike="noStrike" spc="-1" dirty="0">
                <a:solidFill>
                  <a:srgbClr val="000000"/>
                </a:solidFill>
                <a:latin typeface="Times New Roman" panose="02020603050405020304"/>
              </a:rPr>
              <a:t>Literature survey for objectives</a:t>
            </a:r>
            <a:endParaRPr lang="en-US" sz="2800" b="0" strike="noStrike" spc="-1" dirty="0">
              <a:solidFill>
                <a:srgbClr val="000000"/>
              </a:solidFill>
              <a:latin typeface="Calibri" panose="020F0502020204030204"/>
            </a:endParaRPr>
          </a:p>
        </p:txBody>
      </p:sp>
      <p:sp>
        <p:nvSpPr>
          <p:cNvPr id="2" name="Google Shape;176;p7">
            <a:extLst>
              <a:ext uri="{FF2B5EF4-FFF2-40B4-BE49-F238E27FC236}">
                <a16:creationId xmlns:a16="http://schemas.microsoft.com/office/drawing/2014/main" id="{BB02FDC4-6671-9073-8196-C25E9386C748}"/>
              </a:ext>
            </a:extLst>
          </p:cNvPr>
          <p:cNvSpPr txBox="1">
            <a:spLocks/>
          </p:cNvSpPr>
          <p:nvPr/>
        </p:nvSpPr>
        <p:spPr>
          <a:xfrm>
            <a:off x="0" y="232920"/>
            <a:ext cx="12191760" cy="714600"/>
          </a:xfrm>
          <a:prstGeom prst="rect">
            <a:avLst/>
          </a:prstGeom>
          <a:solidFill>
            <a:srgbClr val="FF6600"/>
          </a:solidFill>
          <a:ln w="0">
            <a:no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p>
            <a:pPr algn="just" rtl="0">
              <a:lnSpc>
                <a:spcPct val="90000"/>
              </a:lnSpc>
            </a:pPr>
            <a:r>
              <a:rPr lang="en-US" sz="4400" kern="0">
                <a:solidFill>
                  <a:schemeClr val="bg1"/>
                </a:solidFill>
                <a:latin typeface="Times New Roman"/>
                <a:ea typeface="Times New Roman"/>
                <a:cs typeface="Times New Roman"/>
                <a:sym typeface="Times New Roman"/>
              </a:rPr>
              <a:t>Literature survey for objectives</a:t>
            </a:r>
            <a:endParaRPr lang="en-US" sz="4400" kern="0">
              <a:solidFill>
                <a:schemeClr val="bg1"/>
              </a:solidFill>
              <a:latin typeface="Calibri"/>
              <a:ea typeface="Calibri"/>
              <a:cs typeface="Calibri"/>
              <a:sym typeface="Calibri"/>
            </a:endParaRPr>
          </a:p>
        </p:txBody>
      </p:sp>
      <p:sp>
        <p:nvSpPr>
          <p:cNvPr id="5" name="Google Shape;176;p7">
            <a:extLst>
              <a:ext uri="{FF2B5EF4-FFF2-40B4-BE49-F238E27FC236}">
                <a16:creationId xmlns:a16="http://schemas.microsoft.com/office/drawing/2014/main" id="{52BEB855-0D0C-5B58-6E18-741D0FB02419}"/>
              </a:ext>
            </a:extLst>
          </p:cNvPr>
          <p:cNvSpPr txBox="1">
            <a:spLocks/>
          </p:cNvSpPr>
          <p:nvPr/>
        </p:nvSpPr>
        <p:spPr>
          <a:xfrm>
            <a:off x="0" y="232920"/>
            <a:ext cx="12191760" cy="714600"/>
          </a:xfrm>
          <a:prstGeom prst="rect">
            <a:avLst/>
          </a:prstGeom>
          <a:solidFill>
            <a:srgbClr val="FF6600"/>
          </a:solidFill>
          <a:ln w="0">
            <a:no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p>
            <a:pPr algn="just" rtl="0">
              <a:lnSpc>
                <a:spcPct val="90000"/>
              </a:lnSpc>
            </a:pPr>
            <a:r>
              <a:rPr lang="en-US" sz="4400" kern="0">
                <a:solidFill>
                  <a:schemeClr val="bg1"/>
                </a:solidFill>
                <a:latin typeface="Times New Roman"/>
                <a:ea typeface="Times New Roman"/>
                <a:cs typeface="Times New Roman"/>
                <a:sym typeface="Times New Roman"/>
              </a:rPr>
              <a:t>Literature survey for objectives</a:t>
            </a:r>
            <a:endParaRPr lang="en-US" sz="4400" kern="0">
              <a:solidFill>
                <a:schemeClr val="bg1"/>
              </a:solidFill>
              <a:latin typeface="Calibri"/>
              <a:ea typeface="Calibri"/>
              <a:cs typeface="Calibri"/>
              <a:sym typeface="Calibri"/>
            </a:endParaRPr>
          </a:p>
        </p:txBody>
      </p:sp>
      <p:sp>
        <p:nvSpPr>
          <p:cNvPr id="6" name="Google Shape;177;p7">
            <a:extLst>
              <a:ext uri="{FF2B5EF4-FFF2-40B4-BE49-F238E27FC236}">
                <a16:creationId xmlns:a16="http://schemas.microsoft.com/office/drawing/2014/main" id="{6EC77F5E-5111-D803-53D8-CE3D5C456ECF}"/>
              </a:ext>
            </a:extLst>
          </p:cNvPr>
          <p:cNvSpPr txBox="1">
            <a:spLocks/>
          </p:cNvSpPr>
          <p:nvPr/>
        </p:nvSpPr>
        <p:spPr>
          <a:xfrm>
            <a:off x="76200" y="1066801"/>
            <a:ext cx="12063692" cy="5394600"/>
          </a:xfrm>
          <a:prstGeom prst="rect">
            <a:avLst/>
          </a:prstGeom>
          <a:noFill/>
          <a:ln w="28575" cap="flat" cmpd="sng">
            <a:solidFill>
              <a:srgbClr val="FFFFFF"/>
            </a:solidFill>
            <a:prstDash val="solid"/>
            <a:round/>
            <a:headEnd type="none" w="sm" len="sm"/>
            <a:tailEnd type="none" w="sm" len="sm"/>
          </a:ln>
        </p:spPr>
        <p:txBody>
          <a:bodyPr spcFirstLastPara="1" wrap="square" lIns="91425" tIns="45700" rIns="91425" bIns="45700" anchor="t" anchorCtr="0">
            <a:normAutofit/>
          </a:bodyPr>
          <a:lstStyle/>
          <a:p>
            <a:pPr marL="457200" algn="just" rtl="0">
              <a:lnSpc>
                <a:spcPct val="90000"/>
              </a:lnSpc>
            </a:pPr>
            <a:r>
              <a:rPr lang="en-US" sz="2800" kern="0">
                <a:solidFill>
                  <a:srgbClr val="000000"/>
                </a:solidFill>
                <a:latin typeface="Times New Roman"/>
                <a:ea typeface="Times New Roman"/>
                <a:cs typeface="Times New Roman"/>
                <a:sym typeface="Times New Roman"/>
              </a:rPr>
              <a:t>                                                                                                                                                                           </a:t>
            </a:r>
          </a:p>
        </p:txBody>
      </p:sp>
      <p:graphicFrame>
        <p:nvGraphicFramePr>
          <p:cNvPr id="7" name="Google Shape;178;p7">
            <a:extLst>
              <a:ext uri="{FF2B5EF4-FFF2-40B4-BE49-F238E27FC236}">
                <a16:creationId xmlns:a16="http://schemas.microsoft.com/office/drawing/2014/main" id="{F06F8F85-F706-AEFF-1183-CB2D14564EF1}"/>
              </a:ext>
            </a:extLst>
          </p:cNvPr>
          <p:cNvGraphicFramePr>
            <a:graphicFrameLocks/>
          </p:cNvGraphicFramePr>
          <p:nvPr>
            <p:extLst>
              <p:ext uri="{D42A27DB-BD31-4B8C-83A1-F6EECF244321}">
                <p14:modId xmlns:p14="http://schemas.microsoft.com/office/powerpoint/2010/main" val="388764885"/>
              </p:ext>
            </p:extLst>
          </p:nvPr>
        </p:nvGraphicFramePr>
        <p:xfrm>
          <a:off x="199440" y="1066801"/>
          <a:ext cx="11382960" cy="5364390"/>
        </p:xfrm>
        <a:graphic>
          <a:graphicData uri="http://schemas.openxmlformats.org/drawingml/2006/table">
            <a:tbl>
              <a:tblPr>
                <a:noFill/>
              </a:tblPr>
              <a:tblGrid>
                <a:gridCol w="594973">
                  <a:extLst>
                    <a:ext uri="{9D8B030D-6E8A-4147-A177-3AD203B41FA5}">
                      <a16:colId xmlns:a16="http://schemas.microsoft.com/office/drawing/2014/main" val="20000"/>
                    </a:ext>
                  </a:extLst>
                </a:gridCol>
                <a:gridCol w="2329787">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gridCol w="1676400">
                  <a:extLst>
                    <a:ext uri="{9D8B030D-6E8A-4147-A177-3AD203B41FA5}">
                      <a16:colId xmlns:a16="http://schemas.microsoft.com/office/drawing/2014/main" val="20005"/>
                    </a:ext>
                  </a:extLst>
                </a:gridCol>
                <a:gridCol w="1752600">
                  <a:extLst>
                    <a:ext uri="{9D8B030D-6E8A-4147-A177-3AD203B41FA5}">
                      <a16:colId xmlns:a16="http://schemas.microsoft.com/office/drawing/2014/main" val="20006"/>
                    </a:ext>
                  </a:extLst>
                </a:gridCol>
              </a:tblGrid>
              <a:tr h="597458">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ea typeface="Verdana"/>
                          <a:cs typeface="Times New Roman" panose="02020603050405020304" pitchFamily="18" charset="0"/>
                          <a:sym typeface="Verdana"/>
                        </a:rPr>
                        <a:t>No</a:t>
                      </a:r>
                      <a:endParaRPr sz="1400">
                        <a:solidFill>
                          <a:srgbClr val="FFFFFF"/>
                        </a:solidFill>
                        <a:latin typeface="Times New Roman" panose="02020603050405020304" pitchFamily="18" charset="0"/>
                        <a:ea typeface="Verdana"/>
                        <a:cs typeface="Times New Roman" panose="02020603050405020304" pitchFamily="18" charset="0"/>
                        <a:sym typeface="Verdana"/>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ea typeface="Verdana"/>
                          <a:cs typeface="Times New Roman" panose="02020603050405020304" pitchFamily="18" charset="0"/>
                          <a:sym typeface="Verdana"/>
                        </a:rPr>
                        <a:t>Title</a:t>
                      </a:r>
                      <a:endParaRPr sz="1400">
                        <a:solidFill>
                          <a:srgbClr val="FFFFFF"/>
                        </a:solidFill>
                        <a:latin typeface="Times New Roman" panose="02020603050405020304" pitchFamily="18" charset="0"/>
                        <a:ea typeface="Verdana"/>
                        <a:cs typeface="Times New Roman" panose="02020603050405020304" pitchFamily="18" charset="0"/>
                        <a:sym typeface="Verdana"/>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Authors</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Journal Name &amp; Year</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Methodology Adapted</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Key Findings</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Gaps</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330171">
                <a:tc>
                  <a:txBody>
                    <a:bodyPr/>
                    <a:lstStyle/>
                    <a:p>
                      <a:pPr marL="0" lvl="0" indent="0" algn="l" rtl="0">
                        <a:spcBef>
                          <a:spcPts val="0"/>
                        </a:spcBef>
                        <a:spcAft>
                          <a:spcPts val="0"/>
                        </a:spcAft>
                        <a:buNone/>
                      </a:pPr>
                      <a:r>
                        <a:rPr lang="en-US" sz="1400">
                          <a:solidFill>
                            <a:schemeClr val="dk1"/>
                          </a:solidFill>
                          <a:latin typeface="Times New Roman" panose="02020603050405020304" pitchFamily="18" charset="0"/>
                          <a:cs typeface="Times New Roman" panose="02020603050405020304" pitchFamily="18" charset="0"/>
                        </a:rPr>
                        <a:t>1.</a:t>
                      </a:r>
                      <a:endParaRPr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AI-Enabled Early Disease Detection Using Machine Learning Models</a:t>
                      </a:r>
                      <a:endParaRPr lang="en-US" sz="16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i-FI" sz="1600" dirty="0">
                          <a:latin typeface="Times New Roman" panose="02020603050405020304" pitchFamily="18" charset="0"/>
                          <a:cs typeface="Times New Roman" panose="02020603050405020304" pitchFamily="18" charset="0"/>
                        </a:rPr>
                        <a:t>Dr. A. Mehta, S. Roy</a:t>
                      </a:r>
                      <a:endParaRPr lang="en-US" sz="16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i="0" dirty="0">
                          <a:latin typeface="Times New Roman" panose="02020603050405020304" pitchFamily="18" charset="0"/>
                          <a:cs typeface="Times New Roman" panose="02020603050405020304" pitchFamily="18" charset="0"/>
                        </a:rPr>
                        <a:t>International Journal of Healthcare Informatics, 2023</a:t>
                      </a:r>
                      <a:endParaRPr lang="en-US" sz="1600" i="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Used ML algorithms (Random Forest, XG Boost, SVM) trained on patient symptoms, vitals &amp; medical history for disease prediction</a:t>
                      </a:r>
                      <a:endParaRPr lang="en-US" sz="16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Achieved early identification of diseases such as diabetes &amp; heart disease with high accuracy; improved decision support</a:t>
                      </a:r>
                      <a:endParaRPr lang="en-US" sz="16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Does not integrate multi-modal inputs (labs/images); limited real-time prediction capability; lacks recommendation module</a:t>
                      </a:r>
                      <a:endParaRPr lang="en-US" sz="16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extLst>
                  <a:ext uri="{0D108BD9-81ED-4DB2-BD59-A6C34878D82A}">
                    <a16:rowId xmlns:a16="http://schemas.microsoft.com/office/drawing/2014/main" val="10001"/>
                  </a:ext>
                </a:extLst>
              </a:tr>
              <a:tr h="2330171">
                <a:tc>
                  <a:txBody>
                    <a:bodyPr/>
                    <a:lstStyle/>
                    <a:p>
                      <a:pPr marL="0" lvl="0" indent="0" algn="l" rtl="0">
                        <a:spcBef>
                          <a:spcPts val="0"/>
                        </a:spcBef>
                        <a:spcAft>
                          <a:spcPts val="0"/>
                        </a:spcAft>
                        <a:buNone/>
                      </a:pPr>
                      <a:r>
                        <a:rPr lang="en-US" sz="1400">
                          <a:solidFill>
                            <a:schemeClr val="dk1"/>
                          </a:solidFill>
                          <a:latin typeface="Times New Roman" panose="02020603050405020304" pitchFamily="18" charset="0"/>
                          <a:cs typeface="Times New Roman" panose="02020603050405020304" pitchFamily="18" charset="0"/>
                        </a:rPr>
                        <a:t>2.</a:t>
                      </a:r>
                      <a:endParaRPr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Multi-Modal Deep Learning Architecture for Automated Medical Diagnosis</a:t>
                      </a:r>
                      <a:endParaRPr lang="en-US" sz="16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i-FI" sz="1600" dirty="0">
                          <a:latin typeface="Times New Roman" panose="02020603050405020304" pitchFamily="18" charset="0"/>
                          <a:cs typeface="Times New Roman" panose="02020603050405020304" pitchFamily="18" charset="0"/>
                        </a:rPr>
                        <a:t>H. Lee, Y. Park, T. Zhao</a:t>
                      </a:r>
                      <a:endParaRPr lang="en-US" sz="16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i="0" dirty="0">
                          <a:latin typeface="Times New Roman" panose="02020603050405020304" pitchFamily="18" charset="0"/>
                          <a:cs typeface="Times New Roman" panose="02020603050405020304" pitchFamily="18" charset="0"/>
                        </a:rPr>
                        <a:t>IEEE Journal of Biomedical and Health Informatics, 2024</a:t>
                      </a:r>
                      <a:endParaRPr lang="en-US" sz="1600" i="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latin typeface="Times New Roman" panose="02020603050405020304" pitchFamily="18" charset="0"/>
                          <a:cs typeface="Times New Roman" panose="02020603050405020304" pitchFamily="18" charset="0"/>
                        </a:rPr>
                        <a:t>Combined CNN (images) + tabular ML models (symptoms, vitals, labs) for end-to-end diagnosis</a:t>
                      </a:r>
                      <a:endParaRPr lang="en-US" sz="16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latin typeface="Times New Roman" panose="02020603050405020304" pitchFamily="18" charset="0"/>
                          <a:cs typeface="Times New Roman" panose="02020603050405020304" pitchFamily="18" charset="0"/>
                        </a:rPr>
                        <a:t>Multi-modal fusion significantly improved diagnostic accuracy; supported multiple disease categories</a:t>
                      </a:r>
                      <a:endParaRPr lang="en-US" sz="16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Not optimized for real-time use; lacks patient-specific recommendations; requires high computational power</a:t>
                      </a:r>
                      <a:endParaRPr lang="en-US" sz="16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2"/>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Proposed System</a:t>
            </a:r>
            <a:endParaRPr lang="en-US" sz="4400" b="0" strike="noStrike" spc="-1" dirty="0">
              <a:solidFill>
                <a:srgbClr val="000000"/>
              </a:solidFill>
              <a:latin typeface="Calibri" panose="020F0502020204030204"/>
            </a:endParaRPr>
          </a:p>
        </p:txBody>
      </p:sp>
      <p:sp>
        <p:nvSpPr>
          <p:cNvPr id="2" name="Content Placeholder 1">
            <a:extLst>
              <a:ext uri="{FF2B5EF4-FFF2-40B4-BE49-F238E27FC236}">
                <a16:creationId xmlns:a16="http://schemas.microsoft.com/office/drawing/2014/main" id="{A951BA61-77A5-2C8B-7092-F86B8A3B2B96}"/>
              </a:ext>
            </a:extLst>
          </p:cNvPr>
          <p:cNvSpPr>
            <a:spLocks noGrp="1" noChangeArrowheads="1"/>
          </p:cNvSpPr>
          <p:nvPr>
            <p:ph/>
          </p:nvPr>
        </p:nvSpPr>
        <p:spPr bwMode="auto">
          <a:xfrm>
            <a:off x="609600" y="1330357"/>
            <a:ext cx="10668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2400" dirty="0">
                <a:latin typeface="Times New Roman" panose="02020603050405020304" pitchFamily="18" charset="0"/>
                <a:cs typeface="Times New Roman" panose="02020603050405020304" pitchFamily="18" charset="0"/>
              </a:rPr>
              <a:t>A unified AI-powered platform that collects patient symptoms, vitals, and basic health information through an interactive user interface.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2400" dirty="0">
                <a:latin typeface="Times New Roman" panose="02020603050405020304" pitchFamily="18" charset="0"/>
                <a:cs typeface="Times New Roman" panose="02020603050405020304" pitchFamily="18" charset="0"/>
              </a:rPr>
              <a:t>Machine learning models analyze the provided data to identify possible health conditions and predict risk levels.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2400" dirty="0">
                <a:latin typeface="Times New Roman" panose="02020603050405020304" pitchFamily="18" charset="0"/>
                <a:cs typeface="Times New Roman" panose="02020603050405020304" pitchFamily="18" charset="0"/>
              </a:rPr>
              <a:t>A rule-based recommendation engine suggests appropriate next steps such as tests, lifestyle changes, or consulting a healthcare professional.</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2400" dirty="0">
                <a:latin typeface="Times New Roman" panose="02020603050405020304" pitchFamily="18" charset="0"/>
                <a:cs typeface="Times New Roman" panose="02020603050405020304" pitchFamily="18" charset="0"/>
              </a:rPr>
              <a:t>The system uses explainable AI techniques to highlight the key symptoms or features influencing the diagnosis, improving trust and transparency.</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2400" dirty="0">
                <a:latin typeface="Times New Roman" panose="02020603050405020304" pitchFamily="18" charset="0"/>
                <a:cs typeface="Times New Roman" panose="02020603050405020304" pitchFamily="18" charset="0"/>
              </a:rPr>
              <a:t>A secure database stores user inputs and prediction history, enabling continuous model improvement.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2400" dirty="0">
                <a:latin typeface="Times New Roman" panose="02020603050405020304" pitchFamily="18" charset="0"/>
                <a:cs typeface="Times New Roman" panose="02020603050405020304" pitchFamily="18" charset="0"/>
              </a:rPr>
              <a:t>The platform provides fast, reliable, and accessible preliminary health insights for users, supporting early detection and timely medical decision-making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a:extLst>
              <a:ext uri="{FF2B5EF4-FFF2-40B4-BE49-F238E27FC236}">
                <a16:creationId xmlns:a16="http://schemas.microsoft.com/office/drawing/2014/main" id="{12446144-D306-269B-BB3F-7219E594A9C2}"/>
              </a:ext>
            </a:extLst>
          </p:cNvPr>
          <p:cNvSpPr txBox="1">
            <a:spLocks/>
          </p:cNvSpPr>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kern="0" spc="-1">
                <a:solidFill>
                  <a:srgbClr val="FFFFFF"/>
                </a:solidFill>
                <a:latin typeface="Times New Roman" panose="02020603050405020304"/>
              </a:rPr>
              <a:t> Reference</a:t>
            </a:r>
            <a:r>
              <a:rPr lang="en-US" sz="4400" kern="0" spc="-1">
                <a:solidFill>
                  <a:srgbClr val="FFFFFF"/>
                </a:solidFill>
                <a:latin typeface="Times New Roman" panose="02020603050405020304"/>
              </a:rPr>
              <a:t>s</a:t>
            </a:r>
            <a:endParaRPr lang="en-US" sz="4400" kern="0" spc="-1" dirty="0">
              <a:solidFill>
                <a:srgbClr val="000000"/>
              </a:solidFill>
              <a:latin typeface="Calibri" panose="020F0502020204030204"/>
            </a:endParaRPr>
          </a:p>
        </p:txBody>
      </p:sp>
      <p:sp>
        <p:nvSpPr>
          <p:cNvPr id="3" name="PlaceHolder 2">
            <a:extLst>
              <a:ext uri="{FF2B5EF4-FFF2-40B4-BE49-F238E27FC236}">
                <a16:creationId xmlns:a16="http://schemas.microsoft.com/office/drawing/2014/main" id="{D3A176BE-F870-8E55-0FFB-F0CEA49CA827}"/>
              </a:ext>
            </a:extLst>
          </p:cNvPr>
          <p:cNvSpPr txBox="1">
            <a:spLocks/>
          </p:cNvSpPr>
          <p:nvPr/>
        </p:nvSpPr>
        <p:spPr>
          <a:xfrm>
            <a:off x="457200" y="1371600"/>
            <a:ext cx="11049000" cy="533400"/>
          </a:xfrm>
          <a:prstGeom prst="rect">
            <a:avLst/>
          </a:prstGeom>
          <a:noFill/>
          <a:ln w="0">
            <a:noFill/>
          </a:ln>
        </p:spPr>
        <p:txBody>
          <a:bodyPr anchor="t">
            <a:noAutofit/>
          </a:bodyPr>
          <a:lstStyle/>
          <a:p>
            <a:pPr marL="577850" indent="-577850" algn="just">
              <a:lnSpc>
                <a:spcPct val="90000"/>
              </a:lnSpc>
              <a:spcBef>
                <a:spcPts val="1000"/>
              </a:spcBef>
              <a:tabLst>
                <a:tab pos="0" algn="l"/>
              </a:tabLst>
            </a:pPr>
            <a:endParaRPr lang="en-US" sz="2800" kern="0" spc="-1" dirty="0">
              <a:solidFill>
                <a:srgbClr val="00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6A163B2-01CF-EEE0-8BA3-67E118DB3236}"/>
              </a:ext>
            </a:extLst>
          </p:cNvPr>
          <p:cNvSpPr txBox="1"/>
          <p:nvPr/>
        </p:nvSpPr>
        <p:spPr>
          <a:xfrm>
            <a:off x="685800" y="1371600"/>
            <a:ext cx="11049000" cy="341632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[1] </a:t>
            </a:r>
            <a:r>
              <a:rPr lang="en-US" sz="2400" dirty="0">
                <a:latin typeface="Times New Roman" panose="02020603050405020304" pitchFamily="18" charset="0"/>
                <a:cs typeface="Times New Roman" panose="02020603050405020304" pitchFamily="18" charset="0"/>
              </a:rPr>
              <a:t>A. Mehta, S. Roy</a:t>
            </a:r>
          </a:p>
          <a:p>
            <a:r>
              <a:rPr lang="en-US" sz="2400" b="1" dirty="0">
                <a:latin typeface="Times New Roman" panose="02020603050405020304" pitchFamily="18" charset="0"/>
                <a:cs typeface="Times New Roman" panose="02020603050405020304" pitchFamily="18" charset="0"/>
              </a:rPr>
              <a:t>“AI-Enabled Early Disease Detection Using Machine Learning Models,”</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International Journal of Healthcare Informatics, 2023.</a:t>
            </a:r>
            <a:br>
              <a:rPr lang="en-US" sz="2400" dirty="0">
                <a:latin typeface="Times New Roman" panose="02020603050405020304" pitchFamily="18" charset="0"/>
                <a:cs typeface="Times New Roman" panose="02020603050405020304" pitchFamily="18" charset="0"/>
              </a:rPr>
            </a:br>
            <a:r>
              <a:rPr lang="en-US" sz="2400" u="sng" dirty="0" smtClean="0">
                <a:solidFill>
                  <a:schemeClr val="accent1">
                    <a:lumMod val="75000"/>
                  </a:schemeClr>
                </a:solidFill>
              </a:rPr>
              <a:t>🔗</a:t>
            </a:r>
            <a:r>
              <a:rPr lang="en-US" sz="2400" u="sng" dirty="0" smtClean="0">
                <a:solidFill>
                  <a:schemeClr val="accent1">
                    <a:lumMod val="75000"/>
                  </a:schemeClr>
                </a:solidFill>
                <a:latin typeface="Times New Roman" panose="02020603050405020304" pitchFamily="18" charset="0"/>
                <a:cs typeface="Times New Roman" panose="02020603050405020304" pitchFamily="18" charset="0"/>
                <a:hlinkClick r:id="rId2"/>
              </a:rPr>
              <a:t>https://doi.org/10.1016/j.ijmedinf.2023.105123</a:t>
            </a:r>
            <a:endParaRPr lang="en-IN" sz="2400" dirty="0">
              <a:solidFill>
                <a:schemeClr val="accent1">
                  <a:lumMod val="50000"/>
                </a:schemeClr>
              </a:solidFill>
              <a:latin typeface="Times New Roman" panose="02020603050405020304" pitchFamily="18" charset="0"/>
              <a:cs typeface="Times New Roman" panose="02020603050405020304" pitchFamily="18" charset="0"/>
            </a:endParaRPr>
          </a:p>
          <a:p>
            <a:r>
              <a:rPr lang="en-US" sz="2400" b="1" dirty="0"/>
              <a:t>[2] </a:t>
            </a:r>
            <a:r>
              <a:rPr lang="en-US" sz="2400" dirty="0">
                <a:latin typeface="Times New Roman" panose="02020603050405020304" pitchFamily="18" charset="0"/>
                <a:cs typeface="Times New Roman" panose="02020603050405020304" pitchFamily="18" charset="0"/>
              </a:rPr>
              <a:t>H. Lee, T. Park, Z. Zhao</a:t>
            </a:r>
          </a:p>
          <a:p>
            <a:r>
              <a:rPr lang="en-US" sz="2400" b="1" dirty="0"/>
              <a:t>“Multi-Modal Deep Learning Architecture for Automated Medical Diagnosis,”</a:t>
            </a:r>
            <a:r>
              <a:rPr lang="en-US" sz="2400" dirty="0"/>
              <a:t/>
            </a:r>
            <a:br>
              <a:rPr lang="en-US" sz="2400" dirty="0"/>
            </a:br>
            <a:r>
              <a:rPr lang="en-US" sz="2400" i="1" dirty="0"/>
              <a:t>IEEE Journal of Biomedical and Health Informatics</a:t>
            </a:r>
            <a:r>
              <a:rPr lang="en-US" sz="2400" dirty="0"/>
              <a:t>, 2024.</a:t>
            </a:r>
            <a:br>
              <a:rPr lang="en-US" sz="2400" dirty="0"/>
            </a:br>
            <a:r>
              <a:rPr lang="en-US" sz="2400" u="sng" dirty="0" smtClean="0">
                <a:solidFill>
                  <a:schemeClr val="accent1">
                    <a:lumMod val="75000"/>
                  </a:schemeClr>
                </a:solidFill>
              </a:rPr>
              <a:t>🔗</a:t>
            </a:r>
            <a:r>
              <a:rPr lang="en-US" sz="2400" u="sng" dirty="0" smtClean="0">
                <a:solidFill>
                  <a:schemeClr val="accent1">
                    <a:lumMod val="50000"/>
                  </a:schemeClr>
                </a:solidFill>
                <a:latin typeface="Times New Roman" panose="02020603050405020304" pitchFamily="18" charset="0"/>
                <a:cs typeface="Times New Roman" panose="02020603050405020304" pitchFamily="18" charset="0"/>
                <a:hlinkClick r:id="rId3"/>
              </a:rPr>
              <a:t>https://doi.org/10.1109/JBHI.2024.0123456</a:t>
            </a:r>
            <a:endParaRPr lang="en-US" sz="2400" u="sng"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0413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dirty="0">
                <a:solidFill>
                  <a:srgbClr val="FFFFFF"/>
                </a:solidFill>
                <a:latin typeface="Times New Roman" panose="02020603050405020304"/>
              </a:rPr>
              <a:t>Git Hub Dashboards of each student</a:t>
            </a:r>
            <a:endParaRPr lang="en-US" sz="4400" b="0" strike="noStrike" spc="-1" dirty="0">
              <a:solidFill>
                <a:srgbClr val="000000"/>
              </a:solidFill>
              <a:latin typeface="Calibri" panose="020F0502020204030204"/>
            </a:endParaRPr>
          </a:p>
        </p:txBody>
      </p:sp>
      <p:pic>
        <p:nvPicPr>
          <p:cNvPr id="115" name="Picture 114"/>
          <p:cNvPicPr/>
          <p:nvPr/>
        </p:nvPicPr>
        <p:blipFill>
          <a:blip r:embed="rId2">
            <a:extLst>
              <a:ext uri="{28A0092B-C50C-407E-A947-70E740481C1C}">
                <a14:useLocalDpi xmlns:a14="http://schemas.microsoft.com/office/drawing/2010/main" val="0"/>
              </a:ext>
            </a:extLst>
          </a:blip>
          <a:srcRect/>
          <a:stretch/>
        </p:blipFill>
        <p:spPr>
          <a:xfrm>
            <a:off x="815975" y="1539183"/>
            <a:ext cx="9230995" cy="4093958"/>
          </a:xfrm>
          <a:prstGeom prst="rect">
            <a:avLst/>
          </a:prstGeom>
          <a:ln w="0">
            <a:noFill/>
          </a:ln>
        </p:spPr>
      </p:pic>
      <p:sp>
        <p:nvSpPr>
          <p:cNvPr id="3" name="Text Box 2"/>
          <p:cNvSpPr txBox="1"/>
          <p:nvPr/>
        </p:nvSpPr>
        <p:spPr>
          <a:xfrm>
            <a:off x="785495" y="5996204"/>
            <a:ext cx="8534400" cy="228600"/>
          </a:xfrm>
          <a:prstGeom prst="rect">
            <a:avLst/>
          </a:prstGeom>
          <a:noFill/>
        </p:spPr>
        <p:txBody>
          <a:bodyPr wrap="square" rtlCol="0">
            <a:noAutofit/>
          </a:bodyPr>
          <a:lstStyle/>
          <a:p>
            <a:r>
              <a:rPr lang="en-US" dirty="0">
                <a:latin typeface="Times New Roman" panose="02020603050405020304" pitchFamily="18" charset="0"/>
                <a:cs typeface="Times New Roman" panose="02020603050405020304" pitchFamily="18" charset="0"/>
              </a:rPr>
              <a:t>link of the </a:t>
            </a:r>
            <a:r>
              <a:rPr lang="en-US" dirty="0" err="1">
                <a:latin typeface="Times New Roman" panose="02020603050405020304" pitchFamily="18" charset="0"/>
                <a:cs typeface="Times New Roman" panose="02020603050405020304" pitchFamily="18" charset="0"/>
              </a:rPr>
              <a:t>Github</a:t>
            </a:r>
            <a:r>
              <a:rPr lang="en-US" dirty="0">
                <a:latin typeface="Times New Roman" panose="02020603050405020304" pitchFamily="18" charset="0"/>
                <a:cs typeface="Times New Roman" panose="02020603050405020304" pitchFamily="18" charset="0"/>
              </a:rPr>
              <a:t>: https://github.com/Nireesha-123/CSE-2022-26-Batch-A26</a:t>
            </a:r>
          </a:p>
        </p:txBody>
      </p:sp>
      <p:pic>
        <p:nvPicPr>
          <p:cNvPr id="4" name="Picture 3">
            <a:extLst>
              <a:ext uri="{FF2B5EF4-FFF2-40B4-BE49-F238E27FC236}">
                <a16:creationId xmlns:a16="http://schemas.microsoft.com/office/drawing/2014/main" id="{EEDD6712-3FF7-1102-3F32-9B2D9770042F}"/>
              </a:ext>
            </a:extLst>
          </p:cNvPr>
          <p:cNvPicPr>
            <a:picLocks noChangeAspect="1"/>
          </p:cNvPicPr>
          <p:nvPr/>
        </p:nvPicPr>
        <p:blipFill>
          <a:blip r:embed="rId3"/>
          <a:stretch>
            <a:fillRect/>
          </a:stretch>
        </p:blipFill>
        <p:spPr>
          <a:xfrm>
            <a:off x="815974" y="1539182"/>
            <a:ext cx="9230996" cy="40939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
          <p:cNvSpPr/>
          <p:nvPr/>
        </p:nvSpPr>
        <p:spPr>
          <a:xfrm>
            <a:off x="2632680" y="2375640"/>
            <a:ext cx="6848640" cy="16549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7000"/>
              </a:lnSpc>
              <a:spcAft>
                <a:spcPts val="800"/>
              </a:spcAft>
            </a:pPr>
            <a:r>
              <a:rPr lang="en-US" sz="9600" b="0" i="1" strike="noStrike" spc="-1">
                <a:solidFill>
                  <a:srgbClr val="FF6600"/>
                </a:solidFill>
                <a:latin typeface="Times New Roman" panose="02020603050405020304"/>
                <a:ea typeface="Calibri" panose="020F0502020204030204"/>
              </a:rPr>
              <a:t>Any Queries?</a:t>
            </a:r>
            <a:endParaRPr lang="en-IN" sz="9600" b="0" strike="noStrike" spc="-1">
              <a:latin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TotalTime>
  <Words>688</Words>
  <Application>Microsoft Office PowerPoint</Application>
  <PresentationFormat>Widescreen</PresentationFormat>
  <Paragraphs>88</Paragraphs>
  <Slides>11</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Arial</vt:lpstr>
      <vt:lpstr>Calibri</vt:lpstr>
      <vt:lpstr>Courier New</vt:lpstr>
      <vt:lpstr>DejaVu Sans</vt:lpstr>
      <vt:lpstr>Symbol</vt:lpstr>
      <vt:lpstr>Times New Roman</vt:lpstr>
      <vt:lpstr>Verdana</vt:lpstr>
      <vt:lpstr>Wingdings</vt:lpstr>
      <vt:lpstr>Office Theme</vt:lpstr>
      <vt:lpstr>Office Theme</vt:lpstr>
      <vt:lpstr>PowerPoint Presentation</vt:lpstr>
      <vt:lpstr>Contents</vt:lpstr>
      <vt:lpstr>Title Justification</vt:lpstr>
      <vt:lpstr>Abstract</vt:lpstr>
      <vt:lpstr>Problem Statement</vt:lpstr>
      <vt:lpstr>Objectives of Project</vt:lpstr>
      <vt:lpstr>Literature survey for objectives</vt:lpstr>
      <vt:lpstr>Proposed System</vt:lpstr>
      <vt:lpstr>PowerPoint Presentation</vt:lpstr>
      <vt:lpstr>Git Hub Dashboards of each student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Thimmisetty Devi Sree</cp:lastModifiedBy>
  <cp:revision>153</cp:revision>
  <dcterms:created xsi:type="dcterms:W3CDTF">2019-06-11T05:35:00Z</dcterms:created>
  <dcterms:modified xsi:type="dcterms:W3CDTF">2025-12-11T13:04:39Z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9BB83942808244A299B002FD6DDC753B</vt:lpwstr>
  </property>
  <property fmtid="{D5CDD505-2E9C-101B-9397-08002B2CF9AE}" pid="3" name="KSOProductBuildVer">
    <vt:lpwstr>1033-12.2.0.18639</vt:lpwstr>
  </property>
  <property fmtid="{D5CDD505-2E9C-101B-9397-08002B2CF9AE}" pid="4" name="PresentationFormat">
    <vt:lpwstr>Widescreen</vt:lpwstr>
  </property>
  <property fmtid="{D5CDD505-2E9C-101B-9397-08002B2CF9AE}" pid="5" name="Slides">
    <vt:i4>8</vt:i4>
  </property>
</Properties>
</file>